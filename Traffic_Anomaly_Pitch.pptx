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574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BBF24"/>
                </a:solidFill>
                <a:latin typeface="Calibri"/>
              </a:rPr>
              <a:t>HACKATHON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423160"/>
            <a:ext cx="10515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FFFFFF"/>
                </a:solidFill>
                <a:latin typeface="Calibri"/>
              </a:rPr>
              <a:t>Real-Time Traffic</a:t>
            </a:r>
          </a:p>
          <a:p>
            <a:pPr algn="l">
              <a:lnSpc>
                <a:spcPct val="100000"/>
              </a:lnSpc>
            </a:pPr>
            <a:r>
              <a:rPr sz="4200" b="1">
                <a:solidFill>
                  <a:srgbClr val="FFFFFF"/>
                </a:solidFill>
                <a:latin typeface="Calibri"/>
              </a:rPr>
              <a:t>Anomaly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C7D2E3"/>
                </a:solidFill>
                <a:latin typeface="Calibri"/>
              </a:rPr>
              <a:t>Weather-Correlated Stream Analytics via Apache Flink </a:t>
            </a:r>
            <a:r>
              <a:rPr sz="1900" b="1">
                <a:solidFill>
                  <a:srgbClr val="38BDF8"/>
                </a:solidFill>
                <a:latin typeface="Calibri"/>
              </a:rPr>
              <a:t>+ Gemini Insight Generation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709160"/>
            <a:ext cx="2834640" cy="45720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/>
            <a:r>
              <a:rPr sz="1100" b="1">
                <a:solidFill>
                  <a:srgbClr val="38BDF8"/>
                </a:solidFill>
                <a:latin typeface="Calibri"/>
              </a:rPr>
              <a:t>Most Flink-Driven 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4709160"/>
            <a:ext cx="2834640" cy="45720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/>
            <a:r>
              <a:rPr sz="1100" b="1">
                <a:solidFill>
                  <a:srgbClr val="FBBF24"/>
                </a:solidFill>
                <a:latin typeface="Calibri"/>
              </a:rPr>
              <a:t>Most Impactful AI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436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4748B"/>
                </a:solidFill>
                <a:latin typeface="Calibri"/>
              </a:rPr>
              <a:t>Detection &amp; correlation in real time — not forecasting.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8BDF8"/>
                </a:solidFill>
                <a:latin typeface="Calibri"/>
              </a:rP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E293B"/>
                </a:solidFill>
                <a:latin typeface="Calibri"/>
              </a:rPr>
              <a:t>Why Traffic + Weather + Flink?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98448"/>
            <a:ext cx="10863072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5448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8BDF8"/>
                </a:solidFill>
                <a:latin typeface="Calibr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>
                <a:solidFill>
                  <a:srgbClr val="1E293B"/>
                </a:solidFill>
                <a:latin typeface="Calibri"/>
              </a:rPr>
              <a:t>•  Trip volume and fares can swing sharply during extreme weather — but ops teams only find out AFTER the spike, from a batch report.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>
                <a:solidFill>
                  <a:srgbClr val="1E293B"/>
                </a:solidFill>
                <a:latin typeface="Calibri"/>
              </a:rPr>
              <a:t>•  Trip and weather data come from completely different sources and formats (database CDC vs. a simple producer).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>
                <a:solidFill>
                  <a:srgbClr val="1E293B"/>
                </a:solidFill>
                <a:latin typeface="Calibri"/>
              </a:rPr>
              <a:t>•  We need to correlate these two streams AS THEY HAPPEN — not in a next-day report.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55448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BBF24"/>
                </a:solidFill>
                <a:latin typeface="Calibri"/>
              </a:rPr>
              <a:t>What This Actually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96596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>
                <a:solidFill>
                  <a:srgbClr val="1E293B"/>
                </a:solidFill>
                <a:latin typeface="Calibri"/>
              </a:rPr>
              <a:t>•  Apache Flink performs a STATEFUL interval join between two live streams on event-time — not a one-way Kafka-to-database passthrough.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>
                <a:solidFill>
                  <a:srgbClr val="1E293B"/>
                </a:solidFill>
                <a:latin typeface="Calibri"/>
              </a:rPr>
              <a:t>•  Detected anomalies are turned into a plain-language, actionable narrative by Gemini for non-technical ops staff.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>
                <a:solidFill>
                  <a:srgbClr val="1E293B"/>
                </a:solidFill>
                <a:latin typeface="Calibri"/>
              </a:rPr>
              <a:t>•  This is REAL-TIME DETECTION &amp; CORRELATION — "is what's happening right now normal, given the weather right now?" — not demand forecasting.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623560"/>
            <a:ext cx="10881360" cy="685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779008"/>
            <a:ext cx="10332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38BDF8"/>
                </a:solidFill>
                <a:latin typeface="Calibri"/>
              </a:rPr>
              <a:t>Scope note: </a:t>
            </a:r>
            <a:r>
              <a:rPr sz="1250" b="0">
                <a:solidFill>
                  <a:srgbClr val="64748B"/>
                </a:solidFill>
                <a:latin typeface="Calibri"/>
              </a:rPr>
              <a:t>no weather forecast is consumed and no predictive model is trained — this system reacts to what has already been observed, at streaming speed.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CA9BD"/>
                </a:solidFill>
                <a:latin typeface="Calibri"/>
              </a:rPr>
              <a:t>Real-Time Traffic Anomaly Detection — Apache Flink + Gemini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CA9B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8BDF8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E293B"/>
                </a:solidFill>
                <a:latin typeface="Calibri"/>
              </a:rPr>
              <a:t>End-to-End Pipeline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98448"/>
            <a:ext cx="10863072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02920" y="1783080"/>
            <a:ext cx="1691640" cy="77724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b="1" sz="1250">
                <a:solidFill>
                  <a:srgbClr val="FFFFFF"/>
                </a:solidFill>
                <a:latin typeface="Calibri"/>
              </a:rPr>
              <a:t>Postgres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trip_events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926080"/>
            <a:ext cx="1691640" cy="777240"/>
          </a:xfrm>
          <a:prstGeom prst="roundRect">
            <a:avLst>
              <a:gd name="adj" fmla="val 12000"/>
            </a:avLst>
          </a:prstGeom>
          <a:solidFill>
            <a:srgbClr val="475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b="1" sz="1250">
                <a:solidFill>
                  <a:srgbClr val="FFFFFF"/>
                </a:solidFill>
                <a:latin typeface="Calibri"/>
              </a:rPr>
              <a:t>Python Producer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weather_events (JSON)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94560" y="2167128"/>
            <a:ext cx="64008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103120" y="149047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4748B"/>
                </a:solidFill>
                <a:latin typeface="Calibri"/>
              </a:rPr>
              <a:t>Debezium CDC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1783080"/>
            <a:ext cx="1691640" cy="777240"/>
          </a:xfrm>
          <a:prstGeom prst="roundRect">
            <a:avLst>
              <a:gd name="adj" fmla="val 12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b="1" sz="1250">
                <a:solidFill>
                  <a:srgbClr val="FFFFFF"/>
                </a:solidFill>
                <a:latin typeface="Calibri"/>
              </a:rPr>
              <a:t>Kafka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trip_events
(Avro + Schema Reg.)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2926080"/>
            <a:ext cx="1691640" cy="777240"/>
          </a:xfrm>
          <a:prstGeom prst="roundRect">
            <a:avLst>
              <a:gd name="adj" fmla="val 12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b="1" sz="1250">
                <a:solidFill>
                  <a:srgbClr val="FFFFFF"/>
                </a:solidFill>
                <a:latin typeface="Calibri"/>
              </a:rPr>
              <a:t>Kafka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weather_events
(plain JSON)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26280" y="2167128"/>
            <a:ext cx="640080" cy="393192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4526280" y="2651760"/>
            <a:ext cx="640080" cy="658368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63040" y="2560320"/>
            <a:ext cx="0" cy="365760"/>
          </a:xfrm>
          <a:prstGeom prst="line">
            <a:avLst/>
          </a:prstGeom>
          <a:ln w="22225">
            <a:solidFill>
              <a:srgbClr val="FBBF24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37160" y="2578608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BBF24"/>
                </a:solidFill>
                <a:latin typeface="Calibri"/>
              </a:rPr>
              <a:t>demo bias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6360" y="2148840"/>
            <a:ext cx="2103120" cy="96012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b="1" sz="1250">
                <a:solidFill>
                  <a:srgbClr val="FBBF24"/>
                </a:solidFill>
                <a:latin typeface="Calibri"/>
              </a:rPr>
              <a:t>Flink SQL</a:t>
            </a:r>
          </a:p>
          <a:p>
            <a:pPr algn="ctr"/>
            <a:r>
              <a:rPr sz="900">
                <a:solidFill>
                  <a:srgbClr val="FBBF24"/>
                </a:solidFill>
                <a:latin typeface="Calibri"/>
              </a:rPr>
              <a:t>Interval Join (±30 min)
+ Table↔DataStream anomaly logic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269480" y="2624328"/>
            <a:ext cx="64008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909560" y="1783080"/>
            <a:ext cx="1691640" cy="777240"/>
          </a:xfrm>
          <a:prstGeom prst="roundRect">
            <a:avLst>
              <a:gd name="adj" fmla="val 12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b="1" sz="1250">
                <a:solidFill>
                  <a:srgbClr val="0F172A"/>
                </a:solidFill>
                <a:latin typeface="Calibri"/>
              </a:rPr>
              <a:t>MySQL</a:t>
            </a:r>
          </a:p>
          <a:p>
            <a:pPr algn="ctr"/>
            <a:r>
              <a:rPr sz="900">
                <a:solidFill>
                  <a:srgbClr val="0F172A"/>
                </a:solidFill>
                <a:latin typeface="Calibri"/>
              </a:rPr>
              <a:t>traffic_weather_result
(DONE)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2926080"/>
            <a:ext cx="1691640" cy="777240"/>
          </a:xfrm>
          <a:prstGeom prst="roundRect">
            <a:avLst>
              <a:gd name="adj" fmla="val 12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b="1" sz="1250">
                <a:solidFill>
                  <a:srgbClr val="FFFFFF"/>
                </a:solidFill>
                <a:latin typeface="Calibri"/>
              </a:rPr>
              <a:t>Kafka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traffic_anomaly_events
(DONE)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32520" y="2560320"/>
            <a:ext cx="0" cy="36576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601200" y="2167128"/>
            <a:ext cx="64008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241280" y="1783080"/>
            <a:ext cx="1417320" cy="777240"/>
          </a:xfrm>
          <a:prstGeom prst="roundRect">
            <a:avLst>
              <a:gd name="adj" fmla="val 12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b="1" sz="1250">
                <a:solidFill>
                  <a:srgbClr val="FFFFFF"/>
                </a:solidFill>
                <a:latin typeface="Calibri"/>
              </a:rPr>
              <a:t>Metabase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Dashboard
(roadmap)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32520" y="3310128"/>
            <a:ext cx="0" cy="393192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223760" y="3703320"/>
            <a:ext cx="3337560" cy="777240"/>
          </a:xfrm>
          <a:prstGeom prst="roundRect">
            <a:avLst>
              <a:gd name="adj" fmla="val 12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b="1" sz="1250">
                <a:solidFill>
                  <a:srgbClr val="0F172A"/>
                </a:solidFill>
                <a:latin typeface="Calibri"/>
              </a:rPr>
              <a:t>Gemini LLM</a:t>
            </a:r>
          </a:p>
          <a:p>
            <a:pPr algn="ctr"/>
            <a:r>
              <a:rPr sz="900">
                <a:solidFill>
                  <a:srgbClr val="0F172A"/>
                </a:solidFill>
                <a:latin typeface="Calibri"/>
              </a:rPr>
              <a:t>Insight narrative + recommendation (roadmap)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074920"/>
            <a:ext cx="1060704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8BDF8"/>
                </a:solidFill>
                <a:latin typeface="Calibri"/>
              </a:rPr>
              <a:t>Legend: </a:t>
            </a:r>
            <a:r>
              <a:rPr sz="1200" b="0">
                <a:solidFill>
                  <a:srgbClr val="64748B"/>
                </a:solidFill>
                <a:latin typeface="Calibri"/>
              </a:rPr>
              <a:t>green = built &amp; sinking live data. blue-dashed = engineered demo correlation (weather → trip emission probability), disclosed in detail on slide 8. Gemini + Metabase legs are wired conceptually but not yet running — see Status slide.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CA9BD"/>
                </a:solidFill>
                <a:latin typeface="Calibri"/>
              </a:rPr>
              <a:t>Real-Time Traffic Anomaly Detection — Apache Flink + Gemini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CA9B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8BDF8"/>
                </a:solidFill>
                <a:latin typeface="Calibri"/>
              </a:rPr>
              <a:t>DATA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E293B"/>
                </a:solidFill>
                <a:latin typeface="Calibri"/>
              </a:rPr>
              <a:t>Two Streams, Two Formats — Joined in One Job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98448"/>
            <a:ext cx="10863072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91640"/>
            <a:ext cx="5212080" cy="4297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E293B"/>
                </a:solidFill>
                <a:latin typeface="Calibri"/>
              </a:rPr>
              <a:t>trip_events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42316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AVRO + SCHEMA REGISTRY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971800"/>
            <a:ext cx="1463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64748B"/>
                </a:solidFill>
                <a:latin typeface="Calibri"/>
              </a:rPr>
              <a:t>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971800"/>
            <a:ext cx="3063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1E293B"/>
                </a:solidFill>
                <a:latin typeface="Calibri"/>
              </a:rPr>
              <a:t>Postgres, captured via Debezium CDC (log-based, not polling)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611880"/>
            <a:ext cx="1463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64748B"/>
                </a:solidFill>
                <a:latin typeface="Calibri"/>
              </a:rPr>
              <a:t>Granularity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3611880"/>
            <a:ext cx="3063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1E293B"/>
                </a:solidFill>
                <a:latin typeface="Calibri"/>
              </a:rPr>
              <a:t>Per neighborhood (pu_location_id, 10 zones)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251960"/>
            <a:ext cx="1463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64748B"/>
                </a:solidFill>
                <a:latin typeface="Calibri"/>
              </a:rPr>
              <a:t>Watermark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4251960"/>
            <a:ext cx="3063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1E293B"/>
                </a:solidFill>
                <a:latin typeface="Calibri"/>
              </a:rPr>
              <a:t>pickup_datetime − 5 minutes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892040"/>
            <a:ext cx="1463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64748B"/>
                </a:solidFill>
                <a:latin typeface="Calibri"/>
              </a:rPr>
              <a:t>Why Avro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4892040"/>
            <a:ext cx="3063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1E293B"/>
                </a:solidFill>
                <a:latin typeface="Calibri"/>
              </a:rPr>
              <a:t>Schema evolution safety net, matches CDC's own convention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691640"/>
            <a:ext cx="5212080" cy="4297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1920240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E293B"/>
                </a:solidFill>
                <a:latin typeface="Calibri"/>
              </a:rPr>
              <a:t>weather_events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29400" y="242316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PLAIN JSON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971800"/>
            <a:ext cx="1463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64748B"/>
                </a:solidFill>
                <a:latin typeface="Calibri"/>
              </a:rPr>
              <a:t>Source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971800"/>
            <a:ext cx="3063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1E293B"/>
                </a:solidFill>
                <a:latin typeface="Calibri"/>
              </a:rPr>
              <a:t>Simple Python producer, straight to Kafka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611880"/>
            <a:ext cx="1463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64748B"/>
                </a:solidFill>
                <a:latin typeface="Calibri"/>
              </a:rPr>
              <a:t>Granularity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611880"/>
            <a:ext cx="3063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1E293B"/>
                </a:solidFill>
                <a:latin typeface="Calibri"/>
              </a:rPr>
              <a:t>Per administrative city (location_id, 5 zones)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4251960"/>
            <a:ext cx="1463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64748B"/>
                </a:solidFill>
                <a:latin typeface="Calibri"/>
              </a:rPr>
              <a:t>Watermark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4251960"/>
            <a:ext cx="3063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1E293B"/>
                </a:solidFill>
                <a:latin typeface="Calibri"/>
              </a:rPr>
              <a:t>event_time − 5 minutes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4892040"/>
            <a:ext cx="1463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64748B"/>
                </a:solidFill>
                <a:latin typeface="Calibri"/>
              </a:rPr>
              <a:t>Why JSON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892040"/>
            <a:ext cx="3063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1E293B"/>
                </a:solidFill>
                <a:latin typeface="Calibri"/>
              </a:rPr>
              <a:t>No CDC/registry needed — deliberately different from stream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1264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8BDF8"/>
                </a:solidFill>
                <a:latin typeface="Calibri"/>
              </a:rPr>
              <a:t>Cross-granularity lookup: </a:t>
            </a:r>
            <a:r>
              <a:rPr sz="1200" b="0">
                <a:solidFill>
                  <a:srgbClr val="64748B"/>
                </a:solidFill>
                <a:latin typeface="Calibri"/>
              </a:rPr>
              <a:t>pu_location_id → weather_location_id via a Python UDF + computed column (not a plain JOIN, to keep pickup_datetime's time-attribute status intact).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CA9BD"/>
                </a:solidFill>
                <a:latin typeface="Calibri"/>
              </a:rPr>
              <a:t>Real-Time Traffic Anomaly Detection — Apache Flink + Gemini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CA9B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BBF24"/>
                </a:solidFill>
                <a:latin typeface="Calibri"/>
              </a:rPr>
              <a:t>FLINK CORE #1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Interval Join — Stateful, Not a Passthrough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98448"/>
            <a:ext cx="10863072" cy="0"/>
          </a:xfrm>
          <a:prstGeom prst="line">
            <a:avLst/>
          </a:prstGeom>
          <a:ln w="2540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6492240" cy="2331720"/>
          </a:xfrm>
          <a:prstGeom prst="roundRect">
            <a:avLst/>
          </a:prstGeom>
          <a:solidFill>
            <a:srgbClr val="080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60350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7F3D0"/>
                </a:solidFill>
                <a:latin typeface="Consolas"/>
              </a:rPr>
              <a:t>SELECT t.pickup_datetime, t.pu_location_id, t.trip_distance,
       t.fare_amount, w.condition, w.precipitation
FROM trip_events t
JOIN weather_events w
  ON t.weather_location_id = w.location_id
  AND t.pickup_datetime BETWEEN w.event_time - INTERVAL '30' MINUTE
                              AND w.event_time + INTERVAL '30' MINUTE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06240"/>
            <a:ext cx="6492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>
                <a:solidFill>
                  <a:srgbClr val="E2E8F0"/>
                </a:solidFill>
                <a:latin typeface="Calibri"/>
              </a:rPr>
              <a:t>•  Both streams must carry a watermark (event-time) — a hard requirement for interval joins in Flink.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>
                <a:solidFill>
                  <a:srgbClr val="E2E8F0"/>
                </a:solidFill>
                <a:latin typeface="Calibri"/>
              </a:rPr>
              <a:t>•  The ±30-minute bound is what lets Flink know WHEN old state can be discarded — not an unbounded join that would accumulate state forever.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>
                <a:solidFill>
                  <a:srgbClr val="E2E8F0"/>
                </a:solidFill>
                <a:latin typeface="Calibri"/>
              </a:rPr>
              <a:t>•  This is what distinguishes it from "read Kafka, write to a DB" — Flink is genuinely storing and managing state here.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600200"/>
            <a:ext cx="4114800" cy="466344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182880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BBF24"/>
                </a:solidFill>
                <a:latin typeface="Calibri"/>
              </a:rPr>
              <a:t>Why a UDF, not a plain JOIN?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2286000"/>
            <a:ext cx="3566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•  Looking up pu_location_id → weather_location_id via a normal JOIN risks corrupting pickup_datetime's time-attribute status.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•  A computed column + Python UDF (pure function) never touches the watermark — it stays valid straight from the source.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•  Verified: the query result still shows *ROWTIME* after passing through this computed column.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CA9BD"/>
                </a:solidFill>
                <a:latin typeface="Calibri"/>
              </a:rPr>
              <a:t>Real-Time Traffic Anomaly Detection — Apache Flink + Gemini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CA9B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8BDF8"/>
                </a:solidFill>
                <a:latin typeface="Calibri"/>
              </a:rPr>
              <a:t>FLINK CORE #2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E293B"/>
                </a:solidFill>
                <a:latin typeface="Calibri"/>
              </a:rPr>
              <a:t>Table API × DataStream API — Combined, Not Either/Or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98448"/>
            <a:ext cx="10863072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783080"/>
            <a:ext cx="2606040" cy="31089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011680"/>
            <a:ext cx="502920" cy="50292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0F172A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97480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E293B"/>
                </a:solidFill>
                <a:latin typeface="Calibri"/>
              </a:rPr>
              <a:t>Table API (SQL)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154680"/>
            <a:ext cx="21488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Calibri"/>
              </a:rPr>
              <a:t>Interval join of trip x weather → an append-only Table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46120" y="3337560"/>
            <a:ext cx="13716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383280" y="1783080"/>
            <a:ext cx="2606040" cy="31089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11880" y="2011680"/>
            <a:ext cx="502920" cy="50292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0F172A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697480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E293B"/>
                </a:solidFill>
                <a:latin typeface="Calibri"/>
              </a:rPr>
              <a:t>to_data_stream()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3154680"/>
            <a:ext cx="21488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Calibri"/>
              </a:rPr>
              <a:t>Table → DataStream, watermark carries over automatically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89320" y="3337560"/>
            <a:ext cx="13716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126480" y="1783080"/>
            <a:ext cx="2606040" cy="31089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55080" y="2011680"/>
            <a:ext cx="502920" cy="502920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697480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E293B"/>
                </a:solidFill>
                <a:latin typeface="Calibri"/>
              </a:rPr>
              <a:t>ProcessWindowFunction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154680"/>
            <a:ext cx="21488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Calibri"/>
              </a:rPr>
              <a:t>Custom logic: windowed anomaly detection per location (15 min)
— not practical in pure SQL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32520" y="3337560"/>
            <a:ext cx="13716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869680" y="1783080"/>
            <a:ext cx="2606040" cy="31089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098280" y="2011680"/>
            <a:ext cx="502920" cy="50292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0F172A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697480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E293B"/>
                </a:solidFill>
                <a:latin typeface="Calibri"/>
              </a:rPr>
              <a:t>from_data_stream()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3154680"/>
            <a:ext cx="21488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Calibri"/>
              </a:rPr>
              <a:t>DataStream → Table again, back to a SQL Sink Connector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21208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38BDF8"/>
                </a:solidFill>
                <a:latin typeface="Calibri"/>
              </a:rPr>
              <a:t>Why this matters for "Most Flink-Driven App": </a:t>
            </a:r>
            <a:r>
              <a:rPr sz="1300" b="0">
                <a:solidFill>
                  <a:srgbClr val="64748B"/>
                </a:solidFill>
                <a:latin typeface="Calibri"/>
              </a:rPr>
              <a:t>it shows judgment about WHEN SQL is enough and when to drop into DataStream API — not just familiarity with one API.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CA9BD"/>
                </a:solidFill>
                <a:latin typeface="Calibri"/>
              </a:rPr>
              <a:t>Real-Time Traffic Anomaly Detection — Apache Flink + Gemini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CA9B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8BDF8"/>
                </a:solidFill>
                <a:latin typeface="Calibri"/>
              </a:rPr>
              <a:t>CURRENT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E293B"/>
                </a:solidFill>
                <a:latin typeface="Calibri"/>
              </a:rPr>
              <a:t>What's Actually Built vs. What's Still Roadmap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98448"/>
            <a:ext cx="10863072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45920"/>
            <a:ext cx="5212080" cy="45720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4D399"/>
                </a:solidFill>
                <a:latin typeface="Calibri"/>
              </a:rPr>
              <a:t>✓  BUILT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4663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>
                <a:solidFill>
                  <a:srgbClr val="1E293B"/>
                </a:solidFill>
                <a:latin typeface="Calibri"/>
              </a:rPr>
              <a:t>•  Table API/SQL interval join (event-time, computed column + UDF) — DDL and query plan verified.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>
                <a:solidFill>
                  <a:srgbClr val="1E293B"/>
                </a:solidFill>
                <a:latin typeface="Calibri"/>
              </a:rPr>
              <a:t>•  Join result sink to MySQL (jdbc connector, upsert via PRIMARY KEY) + DDL.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>
                <a:solidFill>
                  <a:srgbClr val="1E293B"/>
                </a:solidFill>
                <a:latin typeface="Calibri"/>
              </a:rPr>
              <a:t>•  Windowed anomaly detection (DataStream API, ProcessWindowFunction) in a separate job.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>
                <a:solidFill>
                  <a:srgbClr val="1E293B"/>
                </a:solidFill>
                <a:latin typeface="Calibri"/>
              </a:rPr>
              <a:t>•  Debezium Postgres CDC → Kafka (plugin + connector config in place).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>
                <a:solidFill>
                  <a:srgbClr val="1E293B"/>
                </a:solidFill>
                <a:latin typeface="Calibri"/>
              </a:rPr>
              <a:t>•  Notebook UI: SQL/Python tabs, multi-session isolation, background jobs for unbounded INSERTs, connector catalog, Gemini-assisted SQL chat.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>
                <a:solidFill>
                  <a:srgbClr val="1E293B"/>
                </a:solidFill>
                <a:latin typeface="Calibri"/>
              </a:rPr>
              <a:t>•  Weather-biased demo producer — trip emission probability now reacts to live weather per zone (see slide 8).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212080" cy="45720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8288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BBF24"/>
                </a:solidFill>
                <a:latin typeface="Calibri"/>
              </a:rPr>
              <a:t>○  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331720"/>
            <a:ext cx="4663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>
                <a:solidFill>
                  <a:srgbClr val="1E293B"/>
                </a:solidFill>
                <a:latin typeface="Calibri"/>
              </a:rPr>
              <a:t>•  Gemini insight service: read anomaly rows, generate a narrative + recommendation (not built yet).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>
                <a:solidFill>
                  <a:srgbClr val="1E293B"/>
                </a:solidFill>
                <a:latin typeface="Calibri"/>
              </a:rPr>
              <a:t>•  Anomaly baseline still a flat threshold (trip_count &lt; 5) — needs to become weather-conditioned (a rainy-day baseline differs from a clear-day baseline).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>
                <a:solidFill>
                  <a:srgbClr val="1E293B"/>
                </a:solidFill>
                <a:latin typeface="Calibri"/>
              </a:rPr>
              <a:t>•  End-to-end verification of CDC Postgres → Kafka against a real broker.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>
                <a:solidFill>
                  <a:srgbClr val="1E293B"/>
                </a:solidFill>
                <a:latin typeface="Calibri"/>
              </a:rPr>
              <a:t>•  Connect Metabase to the MySQL sink tables for a live dashboard.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>
                <a:solidFill>
                  <a:srgbClr val="1E293B"/>
                </a:solidFill>
                <a:latin typeface="Calibri"/>
              </a:rPr>
              <a:t>•  Checkpointing + a fault-tolerance demo (state survives a restart).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CA9BD"/>
                </a:solidFill>
                <a:latin typeface="Calibri"/>
              </a:rPr>
              <a:t>Real-Time Traffic Anomaly Detection — Apache Flink + Gemini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CA9B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BBF24"/>
                </a:solidFill>
                <a:latin typeface="Calibri"/>
              </a:rPr>
              <a:t>METHODOLOGY NOTE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Demo Data: Engineered Correlation, Disclosed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98448"/>
            <a:ext cx="10863072" cy="0"/>
          </a:xfrm>
          <a:prstGeom prst="line">
            <a:avLst/>
          </a:prstGeom>
          <a:ln w="2540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91640"/>
            <a:ext cx="5120640" cy="448056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8BDF8"/>
                </a:solidFill>
                <a:latin typeface="Calibri"/>
              </a:rPr>
              <a:t>What we changed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00">
                <a:solidFill>
                  <a:srgbClr val="E2E8F0"/>
                </a:solidFill>
                <a:latin typeface="Calibri"/>
              </a:rPr>
              <a:t>•  trip_events_producer.py and weather_events_producer.py were originally two fully independent random generators — no causal link.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00">
                <a:solidFill>
                  <a:srgbClr val="E2E8F0"/>
                </a:solidFill>
                <a:latin typeface="Calibri"/>
              </a:rPr>
              <a:t>•  trip_events_producer.py now also runs a background Kafka consumer on weather_events, tracking the current condition per zone.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00">
                <a:solidFill>
                  <a:srgbClr val="E2E8F0"/>
                </a:solidFill>
                <a:latin typeface="Calibri"/>
              </a:rPr>
              <a:t>•  Before emitting a trip, it rolls a probability based on that zone's real, live weather condition (clear ≈ 1.0 down to storm ≈ 0.15) — the more extreme the weather, the more likely a trip event is skipped.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691640"/>
            <a:ext cx="5577840" cy="4480560"/>
          </a:xfrm>
          <a:prstGeom prst="roundRect">
            <a:avLst/>
          </a:prstGeom>
          <a:solidFill>
            <a:srgbClr val="2A1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92024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BBF24"/>
                </a:solidFill>
                <a:latin typeface="Calibri"/>
              </a:rPr>
              <a:t>Why this matters for the pitch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237744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00">
                <a:solidFill>
                  <a:srgbClr val="FDE8C8"/>
                </a:solidFill>
                <a:latin typeface="Calibri"/>
              </a:rPr>
              <a:t>•  This produces a visible "rain → fewer pickups" pattern in the dashboard for demo purposes.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00">
                <a:solidFill>
                  <a:srgbClr val="FDE8C8"/>
                </a:solidFill>
                <a:latin typeface="Calibri"/>
              </a:rPr>
              <a:t>•  It is a deliberately engineered simulation, not an organic finding from real behavior — the probability numbers were chosen by us, not derived from research.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00">
                <a:solidFill>
                  <a:srgbClr val="FDE8C8"/>
                </a:solidFill>
                <a:latin typeface="Calibri"/>
              </a:rPr>
              <a:t>•  If asked: this demonstrates the PIPELINE's capability to surface such a pattern once it exists in the data — it is not a claim about real-world Jakarta traffic behavior.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CA9BD"/>
                </a:solidFill>
                <a:latin typeface="Calibri"/>
              </a:rPr>
              <a:t>Real-Time Traffic Anomaly Detection — Apache Flink + Gemini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CA9B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8BDF8"/>
                </a:solidFill>
                <a:latin typeface="Calibri"/>
              </a:rPr>
              <a:t>AI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E293B"/>
                </a:solidFill>
                <a:latin typeface="Calibri"/>
              </a:rPr>
              <a:t>Gemini Turns Numbers Into an Actionable Insight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98448"/>
            <a:ext cx="10863072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91640"/>
            <a:ext cx="5029200" cy="4206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8BDF8"/>
                </a:solidFill>
                <a:latin typeface="Calibri"/>
              </a:rPr>
              <a:t>Input (from anomaly detection)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44805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0F5C3D"/>
                </a:solidFill>
                <a:latin typeface="Consolas"/>
              </a:rPr>
              <a:t>{
  "area": "Grogol",
  "condition": "heavy_rain",
  "trip_volume_change_pct": -42,
  "avg_fare_change_pct": +18,
  "window": "17:00-17:15"
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43400"/>
            <a:ext cx="44805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87171"/>
                </a:solidFill>
                <a:latin typeface="Calibri"/>
              </a:rPr>
              <a:t>Not wired up yet — </a:t>
            </a:r>
            <a:r>
              <a:rPr sz="1200" b="0">
                <a:solidFill>
                  <a:srgbClr val="64748B"/>
                </a:solidFill>
                <a:latin typeface="Calibri"/>
              </a:rPr>
              <a:t>these numbers still come from the ProcessWindowFunction output; no consumer calls Gemini on them live yet.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691640"/>
            <a:ext cx="5577840" cy="420624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874519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4D399"/>
                </a:solidFill>
                <a:latin typeface="Calibri"/>
              </a:rPr>
              <a:t>Gemini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377440"/>
            <a:ext cx="50292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"Trip volume in the Grogol area dropped 42% while average fare rose 18% over the last 15 minutes, coinciding with heavy rain. This pattern is consistent with reduced driver supply combined with a short-term demand spike. Recommendation: monitor the surrounding area for a similar surge."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5166360"/>
            <a:ext cx="5029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BBF24"/>
                </a:solidFill>
                <a:latin typeface="Calibri"/>
              </a:rPr>
              <a:t>Why this isn't text-to-SQL: </a:t>
            </a:r>
            <a:r>
              <a:rPr sz="1200" b="0">
                <a:solidFill>
                  <a:srgbClr val="CBD5E1"/>
                </a:solidFill>
                <a:latin typeface="Calibri"/>
              </a:rPr>
              <a:t>the LLM performs INTERPRETATION + RECOMMENDATION, not query generation.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CA9BD"/>
                </a:solidFill>
                <a:latin typeface="Calibri"/>
              </a:rPr>
              <a:t>Real-Time Traffic Anomaly Detection — Apache Flink + Gemini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CA9BD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8BDF8"/>
                </a:solidFill>
                <a:latin typeface="Calibri"/>
              </a:rPr>
              <a:t>VISUALIZATION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E293B"/>
                </a:solidFill>
                <a:latin typeface="Calibri"/>
              </a:rPr>
              <a:t>Sink to MySQL, Surfaced Through Metabase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98448"/>
            <a:ext cx="10863072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737360"/>
            <a:ext cx="5577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>
                <a:solidFill>
                  <a:srgbClr val="1E293B"/>
                </a:solidFill>
                <a:latin typeface="Calibri"/>
              </a:rPr>
              <a:t>•  The interval join result is sunk to a MySQL table traffic_weather_result via the jdbc connector (PRIMARY KEY = trip id, UPSERT mode).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>
                <a:solidFill>
                  <a:srgbClr val="1E293B"/>
                </a:solidFill>
                <a:latin typeface="Calibri"/>
              </a:rPr>
              <a:t>•  Metabase already ships in the docker-compose stack (kafka-db/) — connecting it is drag-and-drop, no custom frontend needed.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>
                <a:solidFill>
                  <a:srgbClr val="1E293B"/>
                </a:solidFill>
                <a:latin typeface="Calibri"/>
              </a:rPr>
              <a:t>•  Planned view: trip/fare trend per location per window, anomaly rows highlighted, auto-refreshing.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>
                <a:solidFill>
                  <a:srgbClr val="1E293B"/>
                </a:solidFill>
                <a:latin typeface="Calibri"/>
              </a:rPr>
              <a:t>•  One Flink job can fan out to two sinks in parallel (raw numbers to MySQL/Metabase, anomaly events onward to Gemini) via a StatementSet.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737360"/>
            <a:ext cx="4937760" cy="4114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96596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293B"/>
                </a:solidFill>
                <a:latin typeface="Calibri"/>
              </a:rPr>
              <a:t>traffic_weather_result</a:t>
            </a:r>
          </a:p>
        </p:txBody>
      </p:sp>
      <p:sp>
        <p:nvSpPr>
          <p:cNvPr id="8" name="Oval 7"/>
          <p:cNvSpPr/>
          <p:nvPr/>
        </p:nvSpPr>
        <p:spPr>
          <a:xfrm>
            <a:off x="6858000" y="2468880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86600" y="2414016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E293B"/>
                </a:solidFill>
                <a:latin typeface="Consolas"/>
              </a:rPr>
              <a:t>id</a:t>
            </a:r>
          </a:p>
        </p:txBody>
      </p:sp>
      <p:sp>
        <p:nvSpPr>
          <p:cNvPr id="10" name="Oval 9"/>
          <p:cNvSpPr/>
          <p:nvPr/>
        </p:nvSpPr>
        <p:spPr>
          <a:xfrm>
            <a:off x="6858000" y="2798064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2743200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E293B"/>
                </a:solidFill>
                <a:latin typeface="Consolas"/>
              </a:rPr>
              <a:t>pickup_datetime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0" y="3127248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3072384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E293B"/>
                </a:solidFill>
                <a:latin typeface="Consolas"/>
              </a:rPr>
              <a:t>pu_location_id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0" y="3456432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86600" y="3401568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E293B"/>
                </a:solidFill>
                <a:latin typeface="Consolas"/>
              </a:rPr>
              <a:t>pu_location_name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0" y="3785616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86600" y="3730752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E293B"/>
                </a:solidFill>
                <a:latin typeface="Consolas"/>
              </a:rPr>
              <a:t>weather_location_id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0" y="4114800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6600" y="4059936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E293B"/>
                </a:solidFill>
                <a:latin typeface="Consolas"/>
              </a:rPr>
              <a:t>trip_distance</a:t>
            </a:r>
          </a:p>
        </p:txBody>
      </p:sp>
      <p:sp>
        <p:nvSpPr>
          <p:cNvPr id="20" name="Oval 19"/>
          <p:cNvSpPr/>
          <p:nvPr/>
        </p:nvSpPr>
        <p:spPr>
          <a:xfrm>
            <a:off x="6858000" y="4443984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6600" y="4389120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E293B"/>
                </a:solidFill>
                <a:latin typeface="Consolas"/>
              </a:rPr>
              <a:t>fare_amount</a:t>
            </a:r>
          </a:p>
        </p:txBody>
      </p:sp>
      <p:sp>
        <p:nvSpPr>
          <p:cNvPr id="22" name="Oval 21"/>
          <p:cNvSpPr/>
          <p:nvPr/>
        </p:nvSpPr>
        <p:spPr>
          <a:xfrm>
            <a:off x="6858000" y="4773168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86600" y="4718304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E293B"/>
                </a:solidFill>
                <a:latin typeface="Consolas"/>
              </a:rPr>
              <a:t>weather_condition</a:t>
            </a:r>
          </a:p>
        </p:txBody>
      </p:sp>
      <p:sp>
        <p:nvSpPr>
          <p:cNvPr id="24" name="Oval 23"/>
          <p:cNvSpPr/>
          <p:nvPr/>
        </p:nvSpPr>
        <p:spPr>
          <a:xfrm>
            <a:off x="6858000" y="5102352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86600" y="5047488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E293B"/>
                </a:solidFill>
                <a:latin typeface="Consolas"/>
              </a:rPr>
              <a:t>precipitation</a:t>
            </a:r>
          </a:p>
        </p:txBody>
      </p:sp>
      <p:sp>
        <p:nvSpPr>
          <p:cNvPr id="26" name="Oval 25"/>
          <p:cNvSpPr/>
          <p:nvPr/>
        </p:nvSpPr>
        <p:spPr>
          <a:xfrm>
            <a:off x="6858000" y="5431536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86600" y="5376672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E293B"/>
                </a:solidFill>
                <a:latin typeface="Consolas"/>
              </a:rPr>
              <a:t>inserted_at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CA9BD"/>
                </a:solidFill>
                <a:latin typeface="Calibri"/>
              </a:rPr>
              <a:t>Real-Time Traffic Anomaly Detection — Apache Flink + Gemini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CA9B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BBF24"/>
                </a:solidFill>
                <a:latin typeface="Calibri"/>
              </a:rPr>
              <a:t>CATEGORY FIT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Why This Fits Both Categories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98448"/>
            <a:ext cx="10863072" cy="0"/>
          </a:xfrm>
          <a:prstGeom prst="line">
            <a:avLst/>
          </a:prstGeom>
          <a:ln w="2540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737360"/>
            <a:ext cx="5120640" cy="429768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965960"/>
            <a:ext cx="3017520" cy="41148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MOST FLINK-DRIVEN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4480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00">
                <a:solidFill>
                  <a:srgbClr val="E2E8F0"/>
                </a:solidFill>
                <a:latin typeface="Calibri"/>
              </a:rPr>
              <a:t>•  Two SQL source connectors, two entirely different formats (Avro CDC vs. plain JSON)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00">
                <a:solidFill>
                  <a:srgbClr val="E2E8F0"/>
                </a:solidFill>
                <a:latin typeface="Calibri"/>
              </a:rPr>
              <a:t>•  Interval Join — stateful, not a one-way passthrough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00">
                <a:solidFill>
                  <a:srgbClr val="E2E8F0"/>
                </a:solidFill>
                <a:latin typeface="Calibri"/>
              </a:rPr>
              <a:t>•  Table API ↔ DataStream API interop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00">
                <a:solidFill>
                  <a:srgbClr val="E2E8F0"/>
                </a:solidFill>
                <a:latin typeface="Calibri"/>
              </a:rPr>
              <a:t>•  Custom windowed anomaly detection (ProcessWindowFunction)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00">
                <a:solidFill>
                  <a:srgbClr val="E2E8F0"/>
                </a:solidFill>
                <a:latin typeface="Calibri"/>
              </a:rPr>
              <a:t>•  SQL sink connectors (Kafka + JDBC MySQL)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737360"/>
            <a:ext cx="5120640" cy="429768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0" y="1965960"/>
            <a:ext cx="3017520" cy="41148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MOST IMPACTFUL AI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560320"/>
            <a:ext cx="4480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00">
                <a:solidFill>
                  <a:srgbClr val="E2E8F0"/>
                </a:solidFill>
                <a:latin typeface="Calibri"/>
              </a:rPr>
              <a:t>•  Gemini translates a numeric detection into a narrative and a recommendation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00">
                <a:solidFill>
                  <a:srgbClr val="E2E8F0"/>
                </a:solidFill>
                <a:latin typeface="Calibri"/>
              </a:rPr>
              <a:t>•  Real function: interpretation + actionable advice for ops, not decoration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00">
                <a:solidFill>
                  <a:srgbClr val="E2E8F0"/>
                </a:solidFill>
                <a:latin typeface="Calibri"/>
              </a:rPr>
              <a:t>•  Not a text-to-SQL generator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00">
                <a:solidFill>
                  <a:srgbClr val="E2E8F0"/>
                </a:solidFill>
                <a:latin typeface="Calibri"/>
              </a:rPr>
              <a:t>•  Structured input comes from genuinely stateful stream processing — the AI has real, freshly-computed material to reason over, not a static export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CA9BD"/>
                </a:solidFill>
                <a:latin typeface="Calibri"/>
              </a:rPr>
              <a:t>Real-Time Traffic Anomaly Detection — Apache Flink + Gemini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CA9BD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8BDF8"/>
                </a:solidFill>
                <a:latin typeface="Calibri"/>
              </a:rPr>
              <a:t>DEMO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E293B"/>
                </a:solidFill>
                <a:latin typeface="Calibri"/>
              </a:rPr>
              <a:t>Steps Before Demo Day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98448"/>
            <a:ext cx="10863072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640080" y="1737360"/>
            <a:ext cx="502920" cy="50292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0F172A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719072"/>
            <a:ext cx="3657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E293B"/>
                </a:solidFill>
                <a:latin typeface="Calibri"/>
              </a:rPr>
              <a:t>Verify CDC end-to-end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121408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4748B"/>
                </a:solidFill>
                <a:latin typeface="Calibri"/>
              </a:rPr>
              <a:t>Register the Debezium connector, confirm WAL replication, insert into Postgres → confirm it lands in Kafka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788920"/>
            <a:ext cx="502920" cy="50292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0F172A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770632"/>
            <a:ext cx="3657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E293B"/>
                </a:solidFill>
                <a:latin typeface="Calibri"/>
              </a:rPr>
              <a:t>Build the Gemini insight consumer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172968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4748B"/>
                </a:solidFill>
                <a:latin typeface="Calibri"/>
              </a:rPr>
              <a:t>Small service reads anomaly rows, calls Gemini per anomaly, surfaces the narrative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840480"/>
            <a:ext cx="502920" cy="50292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0F172A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822192"/>
            <a:ext cx="3657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E293B"/>
                </a:solidFill>
                <a:latin typeface="Calibri"/>
              </a:rPr>
              <a:t>Make the anomaly baseline weather-aware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4224528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4748B"/>
                </a:solidFill>
                <a:latin typeface="Calibri"/>
              </a:rPr>
              <a:t>State-based rolling baseline per location AND per weather condition, not a flat threshold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892040"/>
            <a:ext cx="502920" cy="50292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0F172A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873752"/>
            <a:ext cx="3657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E293B"/>
                </a:solidFill>
                <a:latin typeface="Calibri"/>
              </a:rPr>
              <a:t>Connect Metabase to the MySQL sinks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5276088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4748B"/>
                </a:solidFill>
                <a:latin typeface="Calibri"/>
              </a:rPr>
              <a:t>Live dashboard: trends + anomaly highlights, auto-refreshing for the demo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CA9BD"/>
                </a:solidFill>
                <a:latin typeface="Calibri"/>
              </a:rPr>
              <a:t>Real-Time Traffic Anomaly Detection — Apache Flink + Gemini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CA9BD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204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C7D2E3"/>
                </a:solidFill>
                <a:latin typeface="Calibri"/>
              </a:rPr>
              <a:t>Flink is genuinely stateful here — not just Kafka-to-DB.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C7D2E3"/>
                </a:solidFill>
                <a:latin typeface="Calibri"/>
              </a:rPr>
              <a:t>Gemini genuinely interprets — not "we used AI too" decoration.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9377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8BDF8"/>
                </a:solidFill>
                <a:latin typeface="Calibr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